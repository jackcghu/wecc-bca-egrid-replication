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charts/chart1.xml" ContentType="application/vnd.openxmlformats-officedocument.drawingml.chart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notesMasterIdLst>
    <p:notesMasterId r:id="rId9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notesMaster" Target="notesMasters/notesMaster1.xml"/><Relationship Id="rId10" Type="http://schemas.openxmlformats.org/officeDocument/2006/relationships/presProps" Target="presProps.xml"/><Relationship Id="rId11" Type="http://schemas.openxmlformats.org/officeDocument/2006/relationships/viewProps" Target="viewProps.xml"/><Relationship Id="rId12" Type="http://schemas.openxmlformats.org/officeDocument/2006/relationships/theme" Target="theme/theme1.xml"/><Relationship Id="rId13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300" b="0" i="0" u="none" strike="noStrike">
                <a:solidFill>
                  <a:srgbClr val="21295C"/>
                </a:solidFill>
                <a:latin typeface="Calibri"/>
              </a:defRPr>
            </a:pPr>
            <a:r>
              <a:rPr sz="1300" b="0" i="0" u="none" strike="noStrike">
                <a:solidFill>
                  <a:srgbClr val="21295C"/>
                </a:solidFill>
                <a:latin typeface="Calibri"/>
              </a:rPr>
              <a:t>Total Generation by Fuel Type (MWh)</a:t>
            </a:r>
          </a:p>
        </c:rich>
      </c:tx>
      <c:layout/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Gas (MWh)</c:v>
                </c:pt>
              </c:strCache>
            </c:strRef>
          </c:tx>
          <c:spPr>
            <a:solidFill>
              <a:srgbClr val="065A82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Sheet1!$A$2:$A$5</c:f>
              <c:multiLvlStrCache>
                <c:ptCount val="4"/>
                <c:lvl>
                  <c:pt idx="0">
                    <c:v>California</c:v>
                  </c:pt>
                  <c:pt idx="1">
                    <c:v>Northwest</c:v>
                  </c:pt>
                  <c:pt idx="2">
                    <c:v>Southwest</c:v>
                  </c:pt>
                  <c:pt idx="3">
                    <c:v>Rockies</c:v>
                  </c:pt>
                </c:lvl>
              </c:multiLvlStrCache>
            </c:multiLvl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88912696</c:v>
                </c:pt>
                <c:pt idx="1">
                  <c:v>45596811</c:v>
                </c:pt>
                <c:pt idx="2">
                  <c:v>67001781</c:v>
                </c:pt>
                <c:pt idx="3">
                  <c:v>16338939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Coal (MWh)</c:v>
                </c:pt>
              </c:strCache>
            </c:strRef>
          </c:tx>
          <c:spPr>
            <a:solidFill>
              <a:srgbClr val="C0704A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Sheet1!$A$2:$A$5</c:f>
              <c:multiLvlStrCache>
                <c:ptCount val="4"/>
                <c:lvl>
                  <c:pt idx="0">
                    <c:v>California</c:v>
                  </c:pt>
                  <c:pt idx="1">
                    <c:v>Northwest</c:v>
                  </c:pt>
                  <c:pt idx="2">
                    <c:v>Southwest</c:v>
                  </c:pt>
                  <c:pt idx="3">
                    <c:v>Rockies</c:v>
                  </c:pt>
                </c:lvl>
              </c:multiLvlStrCache>
            </c:multiLvlStrRef>
          </c:cat>
          <c:val>
            <c:numRef>
              <c:f>Sheet1!$C$2:$C$5</c:f>
              <c:numCache>
                <c:formatCode>General</c:formatCode>
                <c:ptCount val="4"/>
                <c:pt idx="0">
                  <c:v>8793545</c:v>
                </c:pt>
                <c:pt idx="1">
                  <c:v>63072487</c:v>
                </c:pt>
                <c:pt idx="2">
                  <c:v>44335727</c:v>
                </c:pt>
                <c:pt idx="3">
                  <c:v>29543672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6B7280"/>
                </a:solidFill>
                <a:latin typeface="Calibri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12700" cap="flat">
              <a:solidFill>
                <a:srgbClr val="EDEDED"/>
              </a:solidFill>
              <a:prstDash val="solid"/>
              <a:round/>
            </a:ln>
          </c:spPr>
        </c:majorGridlines>
        <c:numFmt formatCode="#,##0,,&quot;M&quot;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6B7280"/>
                </a:solidFill>
                <a:latin typeface="Calibri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1000">      </a:defRPr>
          </a:pPr>
          <a:endParaRPr lang="en-US"/>
        </a:p>
      </c:txPr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png"/><Relationship Id="rId3" Type="http://schemas.openxmlformats.org/officeDocument/2006/relationships/image" Target="../media/image-7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21295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731520" y="640080"/>
            <a:ext cx="10698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spc="100" kern="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FOWLIE, PETERSEN &amp; REGUANT (2021)  —  BORDER CARBON ADJUSTMENTS WHEN CARBON INTENSITY VARIES ACROSS PRODUCERS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731520" y="2468880"/>
            <a:ext cx="1069848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eGRID Calibration Replication</a:t>
            </a:r>
            <a:endParaRPr lang="en-US" sz="4400" dirty="0"/>
          </a:p>
        </p:txBody>
      </p:sp>
      <p:sp>
        <p:nvSpPr>
          <p:cNvPr id="4" name="Text 2"/>
          <p:cNvSpPr txBox="1"/>
          <p:nvPr/>
        </p:nvSpPr>
        <p:spPr>
          <a:xfrm>
            <a:off x="731520" y="3703320"/>
            <a:ext cx="86868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6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 independent replication of the paper's eGRID2018 thermal-plant calibration step, with original follow-on analysis of regional carbon-intensity patterns.</a:t>
            </a:r>
            <a:endParaRPr lang="en-US" sz="1600" dirty="0"/>
          </a:p>
        </p:txBody>
      </p:sp>
      <p:sp>
        <p:nvSpPr>
          <p:cNvPr id="5" name="Text 3"/>
          <p:cNvSpPr txBox="1"/>
          <p:nvPr/>
        </p:nvSpPr>
        <p:spPr>
          <a:xfrm>
            <a:off x="731520" y="6126480"/>
            <a:ext cx="5486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FA3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Independent study · August 2026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457200"/>
            <a:ext cx="108813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Replication Methodology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822960" y="1554480"/>
            <a:ext cx="777240" cy="777240"/>
          </a:xfrm>
          <a:prstGeom prst="ellipse">
            <a:avLst/>
          </a:prstGeom>
          <a:solidFill>
            <a:srgbClr val="1C7293"/>
          </a:solidFill>
          <a:ln/>
        </p:spPr>
      </p:sp>
      <p:pic>
        <p:nvPicPr>
          <p:cNvPr id="4" name="Image 0" descr="/home/claude/deck_build/icons/cod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96696" y="1728216"/>
            <a:ext cx="429768" cy="429768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1920240" y="1536192"/>
            <a:ext cx="8961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Original eGRID Script</a:t>
            </a:r>
            <a:endParaRPr lang="en-US" sz="1800" dirty="0"/>
          </a:p>
        </p:txBody>
      </p:sp>
      <p:sp>
        <p:nvSpPr>
          <p:cNvPr id="6" name="Text 3"/>
          <p:cNvSpPr txBox="1"/>
          <p:nvPr/>
        </p:nvSpPr>
        <p:spPr>
          <a:xfrm>
            <a:off x="1920240" y="1938528"/>
            <a:ext cx="87782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4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 the original authors’ eGRID cleaning script against the public EPA eGRID2018 dataset to produce a plant-level thermal generator table.</a:t>
            </a:r>
            <a:endParaRPr lang="en-US" sz="1400" dirty="0"/>
          </a:p>
        </p:txBody>
      </p:sp>
      <p:sp>
        <p:nvSpPr>
          <p:cNvPr id="7" name="Shape 4"/>
          <p:cNvSpPr/>
          <p:nvPr/>
        </p:nvSpPr>
        <p:spPr>
          <a:xfrm>
            <a:off x="822960" y="2971800"/>
            <a:ext cx="777240" cy="777240"/>
          </a:xfrm>
          <a:prstGeom prst="ellipse">
            <a:avLst/>
          </a:prstGeom>
          <a:solidFill>
            <a:srgbClr val="1C7293"/>
          </a:solidFill>
          <a:ln/>
        </p:spPr>
      </p:sp>
      <p:pic>
        <p:nvPicPr>
          <p:cNvPr id="8" name="Image 1" descr="/home/claude/deck_build/icons/cpu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96696" y="3145536"/>
            <a:ext cx="429768" cy="429768"/>
          </a:xfrm>
          <a:prstGeom prst="rect">
            <a:avLst/>
          </a:prstGeom>
        </p:spPr>
      </p:pic>
      <p:sp>
        <p:nvSpPr>
          <p:cNvPr id="9" name="Text 5"/>
          <p:cNvSpPr txBox="1"/>
          <p:nvPr/>
        </p:nvSpPr>
        <p:spPr>
          <a:xfrm>
            <a:off x="1920240" y="2953512"/>
            <a:ext cx="8961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Independent Analysis</a:t>
            </a:r>
            <a:endParaRPr lang="en-US" sz="1800" dirty="0"/>
          </a:p>
        </p:txBody>
      </p:sp>
      <p:sp>
        <p:nvSpPr>
          <p:cNvPr id="10" name="Text 6"/>
          <p:cNvSpPr txBox="1"/>
          <p:nvPr/>
        </p:nvSpPr>
        <p:spPr>
          <a:xfrm>
            <a:off x="1920240" y="3355848"/>
            <a:ext cx="87782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4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Built five original outputs using Python (pandas, numpy), with AI-assisted coding (Claude).</a:t>
            </a:r>
            <a:endParaRPr lang="en-US" sz="1400" dirty="0"/>
          </a:p>
        </p:txBody>
      </p:sp>
      <p:sp>
        <p:nvSpPr>
          <p:cNvPr id="11" name="Shape 7"/>
          <p:cNvSpPr/>
          <p:nvPr/>
        </p:nvSpPr>
        <p:spPr>
          <a:xfrm>
            <a:off x="822960" y="4389120"/>
            <a:ext cx="777240" cy="777240"/>
          </a:xfrm>
          <a:prstGeom prst="ellipse">
            <a:avLst/>
          </a:prstGeom>
          <a:solidFill>
            <a:srgbClr val="1C7293"/>
          </a:solidFill>
          <a:ln/>
        </p:spPr>
      </p:sp>
      <p:pic>
        <p:nvPicPr>
          <p:cNvPr id="12" name="Image 2" descr="/home/claude/deck_build/icons/chart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96696" y="4562856"/>
            <a:ext cx="429768" cy="429768"/>
          </a:xfrm>
          <a:prstGeom prst="rect">
            <a:avLst/>
          </a:prstGeom>
        </p:spPr>
      </p:pic>
      <p:sp>
        <p:nvSpPr>
          <p:cNvPr id="13" name="Text 8"/>
          <p:cNvSpPr txBox="1"/>
          <p:nvPr/>
        </p:nvSpPr>
        <p:spPr>
          <a:xfrm>
            <a:off x="1920240" y="4370832"/>
            <a:ext cx="8961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Deliverables</a:t>
            </a:r>
            <a:endParaRPr lang="en-US" sz="1800" dirty="0"/>
          </a:p>
        </p:txBody>
      </p:sp>
      <p:sp>
        <p:nvSpPr>
          <p:cNvPr id="14" name="Text 9"/>
          <p:cNvSpPr txBox="1"/>
          <p:nvPr/>
        </p:nvSpPr>
        <p:spPr>
          <a:xfrm>
            <a:off x="1920240" y="4773168"/>
            <a:ext cx="87782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4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Regional summary statistics, a generation-weighted regional average, and a fuel-type decomposition.</a:t>
            </a:r>
            <a:endParaRPr lang="en-US" sz="1400" dirty="0"/>
          </a:p>
        </p:txBody>
      </p:sp>
      <p:sp>
        <p:nvSpPr>
          <p:cNvPr id="15" name="Text 10"/>
          <p:cNvSpPr txBox="1"/>
          <p:nvPr/>
        </p:nvSpPr>
        <p:spPr>
          <a:xfrm>
            <a:off x="822960" y="6263640"/>
            <a:ext cx="10515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Original eGRID2018 cleaning script © Fowlie, Petersen &amp; Reguant (openICPSR DOI 10.3886/E131024V1). All analysis beyond that step is independent work.</a:t>
            </a:r>
            <a:endParaRPr lang="en-US" sz="1000" dirty="0"/>
          </a:p>
        </p:txBody>
      </p:sp>
      <p:sp>
        <p:nvSpPr>
          <p:cNvPr id="16" name="Text 11"/>
          <p:cNvSpPr/>
          <p:nvPr/>
        </p:nvSpPr>
        <p:spPr>
          <a:xfrm>
            <a:off x="11521440" y="644652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457200"/>
            <a:ext cx="108813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Plant Counts &amp; Rate Distribution</a:t>
            </a:r>
            <a:endParaRPr lang="en-US" sz="28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1051560"/>
            <a:ext cx="108813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lb/MWh measures how much CO₂ is released per unit of electricity actually produced.</a:t>
            </a:r>
            <a:endParaRPr lang="en-US" sz="1300" dirty="0"/>
          </a:p>
        </p:txBody>
      </p:sp>
      <p:graphicFrame>
        <p:nvGraphicFramePr>
          <p:cNvPr id="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40080" y="1737360"/>
          <a:ext cx="6949440" cy="3108960"/>
        </p:xfrm>
        <a:graphic>
          <a:graphicData uri="http://schemas.openxmlformats.org/drawingml/2006/table">
            <a:tbl>
              <a:tblPr/>
              <a:tblGrid>
                <a:gridCol w="1389888"/>
                <a:gridCol w="1389888"/>
                <a:gridCol w="1389888"/>
                <a:gridCol w="1389888"/>
                <a:gridCol w="1389888"/>
              </a:tblGrid>
              <a:tr h="62179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Region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65A8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Plants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65A8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Mean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(lb/MWh)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65A8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Median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(lb/MWh)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65A8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Max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(lb/MWh)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65A82"/>
                    </a:solidFill>
                  </a:tcPr>
                </a:tc>
              </a:tr>
              <a:tr h="62179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California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577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1650.1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905.9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122,001.9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62179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Northwest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6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253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6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1568.8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6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1207.5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6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12,221.8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6F9"/>
                    </a:solidFill>
                  </a:tcPr>
                </a:tc>
              </a:tr>
              <a:tr h="62179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Southwest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283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1136.8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1015.3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4,559.7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62179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Rockies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6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189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6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1706.9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6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1176.1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6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9,121.6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6F9"/>
                    </a:solidFill>
                  </a:tcPr>
                </a:tc>
              </a:tr>
            </a:tbl>
          </a:graphicData>
        </a:graphic>
      </p:graphicFrame>
      <p:sp>
        <p:nvSpPr>
          <p:cNvPr id="5" name="Text 2"/>
          <p:cNvSpPr txBox="1"/>
          <p:nvPr/>
        </p:nvSpPr>
        <p:spPr>
          <a:xfrm>
            <a:off x="640080" y="5074920"/>
            <a:ext cx="69494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Four WECC regions: California, Northwest, Southwest, and Rockies (plus a small unmatched bucket, excluded here).</a:t>
            </a:r>
            <a:endParaRPr lang="en-US" sz="1300" dirty="0"/>
          </a:p>
        </p:txBody>
      </p:sp>
      <p:sp>
        <p:nvSpPr>
          <p:cNvPr id="6" name="Shape 3"/>
          <p:cNvSpPr/>
          <p:nvPr/>
        </p:nvSpPr>
        <p:spPr>
          <a:xfrm>
            <a:off x="7909560" y="1737360"/>
            <a:ext cx="3611880" cy="4069080"/>
          </a:xfrm>
          <a:prstGeom prst="roundRect">
            <a:avLst>
              <a:gd name="adj" fmla="val 2025"/>
            </a:avLst>
          </a:prstGeom>
          <a:solidFill>
            <a:srgbClr val="1C7293"/>
          </a:solidFill>
          <a:ln/>
        </p:spPr>
      </p:sp>
      <p:pic>
        <p:nvPicPr>
          <p:cNvPr id="7" name="Image 0" descr="/home/claude/deck_build/icons/tren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275320" y="2103120"/>
            <a:ext cx="548640" cy="548640"/>
          </a:xfrm>
          <a:prstGeom prst="rect">
            <a:avLst/>
          </a:prstGeom>
        </p:spPr>
      </p:pic>
      <p:sp>
        <p:nvSpPr>
          <p:cNvPr id="8" name="Text 4"/>
          <p:cNvSpPr txBox="1"/>
          <p:nvPr/>
        </p:nvSpPr>
        <p:spPr>
          <a:xfrm>
            <a:off x="7909560" y="2788920"/>
            <a:ext cx="3611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Rockies</a:t>
            </a:r>
            <a:endParaRPr lang="en-US" sz="2800" dirty="0"/>
          </a:p>
        </p:txBody>
      </p:sp>
      <p:sp>
        <p:nvSpPr>
          <p:cNvPr id="9" name="Text 5"/>
          <p:cNvSpPr txBox="1"/>
          <p:nvPr/>
        </p:nvSpPr>
        <p:spPr>
          <a:xfrm>
            <a:off x="8001000" y="3364992"/>
            <a:ext cx="3429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has the highest MEAN rate</a:t>
            </a:r>
            <a:endParaRPr lang="en-US" sz="1300" dirty="0"/>
          </a:p>
        </p:txBody>
      </p:sp>
      <p:sp>
        <p:nvSpPr>
          <p:cNvPr id="10" name="Text 6"/>
          <p:cNvSpPr txBox="1"/>
          <p:nvPr/>
        </p:nvSpPr>
        <p:spPr>
          <a:xfrm>
            <a:off x="8183880" y="4114800"/>
            <a:ext cx="306324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35000"/>
              </a:lnSpc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But Northwest has the highest MEDIAN — Rockies’ average is skewed upward by a handful of extreme outliers.</a:t>
            </a:r>
            <a:endParaRPr lang="en-US" sz="1400" dirty="0"/>
          </a:p>
        </p:txBody>
      </p:sp>
      <p:sp>
        <p:nvSpPr>
          <p:cNvPr id="11" name="Text 7"/>
          <p:cNvSpPr/>
          <p:nvPr/>
        </p:nvSpPr>
        <p:spPr>
          <a:xfrm>
            <a:off x="11521440" y="644652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457200"/>
            <a:ext cx="108813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Outlier Drill-Down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640080" y="1463040"/>
            <a:ext cx="3657600" cy="4343400"/>
          </a:xfrm>
          <a:prstGeom prst="roundRect">
            <a:avLst>
              <a:gd name="adj" fmla="val 2000"/>
            </a:avLst>
          </a:prstGeom>
          <a:solidFill>
            <a:srgbClr val="21295C"/>
          </a:solidFill>
          <a:ln/>
        </p:spPr>
      </p:sp>
      <p:pic>
        <p:nvPicPr>
          <p:cNvPr id="4" name="Image 0" descr="/home/claude/deck_build/icons/alert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148840" y="1965960"/>
            <a:ext cx="640080" cy="640080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640080" y="2880360"/>
            <a:ext cx="36576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122,001.9</a:t>
            </a:r>
            <a:endParaRPr lang="en-US" sz="3400" dirty="0"/>
          </a:p>
        </p:txBody>
      </p:sp>
      <p:sp>
        <p:nvSpPr>
          <p:cNvPr id="6" name="Text 3"/>
          <p:cNvSpPr txBox="1"/>
          <p:nvPr/>
        </p:nvSpPr>
        <p:spPr>
          <a:xfrm>
            <a:off x="868680" y="3611880"/>
            <a:ext cx="32004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30000"/>
              </a:lnSpc>
              <a:buNone/>
            </a:pPr>
            <a:r>
              <a:rPr lang="en-US" sz="14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lb/MWh — the most extreme rate in the dataset</a:t>
            </a:r>
            <a:endParaRPr lang="en-US" sz="1400" dirty="0"/>
          </a:p>
        </p:txBody>
      </p:sp>
      <p:sp>
        <p:nvSpPr>
          <p:cNvPr id="7" name="Text 4"/>
          <p:cNvSpPr txBox="1"/>
          <p:nvPr/>
        </p:nvSpPr>
        <p:spPr>
          <a:xfrm>
            <a:off x="914400" y="4846320"/>
            <a:ext cx="31089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30000"/>
              </a:lnSpc>
              <a:buNone/>
            </a:pPr>
            <a:r>
              <a:rPr lang="en-US" sz="1200" i="1" dirty="0">
                <a:solidFill>
                  <a:srgbClr val="8FA3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real-world data characteristic of idle peaker plants — not a data-pipeline error.</a:t>
            </a:r>
            <a:endParaRPr lang="en-US" sz="1200" dirty="0"/>
          </a:p>
        </p:txBody>
      </p:sp>
      <p:graphicFrame>
        <p:nvGraphicFramePr>
          <p:cNvPr id="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663440" y="1463040"/>
          <a:ext cx="6858000" cy="1554480"/>
        </p:xfrm>
        <a:graphic>
          <a:graphicData uri="http://schemas.openxmlformats.org/drawingml/2006/table">
            <a:tbl>
              <a:tblPr/>
              <a:tblGrid>
                <a:gridCol w="1371600"/>
                <a:gridCol w="1371600"/>
                <a:gridCol w="1371600"/>
                <a:gridCol w="1371600"/>
                <a:gridCol w="1371600"/>
              </a:tblGrid>
              <a:tr h="3886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County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65A8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Fuel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65A8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Capacity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(MW)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65A8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Generation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(MWh)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65A8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Rate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(lb/MWh)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65A82"/>
                    </a:solidFill>
                  </a:tcPr>
                </a:tc>
              </a:tr>
              <a:tr h="3886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Stanislaus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GAS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24.9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5.0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122,001.9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86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Stanislaus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6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GAS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6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24.9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6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5.0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6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122,001.9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6F9"/>
                    </a:solidFill>
                  </a:tcPr>
                </a:tc>
              </a:tr>
              <a:tr h="3886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San Bernardino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GAS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1.2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8.0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16,333.4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9" name="Text 5"/>
          <p:cNvSpPr txBox="1"/>
          <p:nvPr/>
        </p:nvSpPr>
        <p:spPr>
          <a:xfrm>
            <a:off x="4663440" y="3337560"/>
            <a:ext cx="685800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16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24.9 MW gas plant in Stanislaus County generated just 5.0 MWh across the entire year — a capacity factor near zero. </a:t>
            </a:r>
            <a:pPr indent="0" marL="0">
              <a:lnSpc>
                <a:spcPct val="140000"/>
              </a:lnSpc>
              <a:buNone/>
            </a:pPr>
            <a:r>
              <a:rPr lang="en-US" sz="16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is characteristic of a peaker plant, </a:t>
            </a:r>
            <a:pPr indent="0" marL="0">
              <a:lnSpc>
                <a:spcPct val="140000"/>
              </a:lnSpc>
              <a:buNone/>
            </a:pPr>
            <a:r>
              <a:rPr lang="en-US" sz="16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which runs only during rare, high-demand events (e.g., a heat wave).</a:t>
            </a:r>
            <a:endParaRPr lang="en-US" sz="1600" dirty="0"/>
          </a:p>
        </p:txBody>
      </p:sp>
      <p:sp>
        <p:nvSpPr>
          <p:cNvPr id="10" name="Text 6"/>
          <p:cNvSpPr txBox="1"/>
          <p:nvPr/>
        </p:nvSpPr>
        <p:spPr>
          <a:xfrm>
            <a:off x="4663440" y="4892040"/>
            <a:ext cx="68580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1600" i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Dividing its (relatively small) emissions by this near-zero generation inflates the rate — the plant isn’t unusually dirty, it simply produced very little electricity to divide by.</a:t>
            </a:r>
            <a:endParaRPr lang="en-US" sz="1600" dirty="0"/>
          </a:p>
        </p:txBody>
      </p:sp>
      <p:sp>
        <p:nvSpPr>
          <p:cNvPr id="11" name="Text 7"/>
          <p:cNvSpPr/>
          <p:nvPr/>
        </p:nvSpPr>
        <p:spPr>
          <a:xfrm>
            <a:off x="11521440" y="644652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457200"/>
            <a:ext cx="108813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Generation-Weighted vs. Simple Average</a:t>
            </a:r>
            <a:endParaRPr lang="en-US" sz="2600" dirty="0"/>
          </a:p>
        </p:txBody>
      </p:sp>
      <p:graphicFrame>
        <p:nvGraphicFramePr>
          <p:cNvPr id="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40080" y="1234440"/>
          <a:ext cx="7040880" cy="1920240"/>
        </p:xfrm>
        <a:graphic>
          <a:graphicData uri="http://schemas.openxmlformats.org/drawingml/2006/table">
            <a:tbl>
              <a:tblPr/>
              <a:tblGrid>
                <a:gridCol w="2346960"/>
                <a:gridCol w="2346960"/>
                <a:gridCol w="2346960"/>
              </a:tblGrid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Region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65A8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Weighted avg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(tonnes CO₂/MWh)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65A8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Paper reference point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65A82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California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0.437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CA default import rate: 0.428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Southwest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6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0.685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6F9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Paper: nonbaseload intensity “above 0.7”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6F9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Rockies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0.828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Paper: nonbaseload intensity “above 0.7”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Northwest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6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0.781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6F9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6F9"/>
                    </a:solidFill>
                  </a:tcPr>
                </a:tc>
              </a:tr>
            </a:tbl>
          </a:graphicData>
        </a:graphic>
      </p:graphicFrame>
      <p:sp>
        <p:nvSpPr>
          <p:cNvPr id="4" name="Shape 1"/>
          <p:cNvSpPr/>
          <p:nvPr/>
        </p:nvSpPr>
        <p:spPr>
          <a:xfrm>
            <a:off x="7909560" y="1234440"/>
            <a:ext cx="3611880" cy="1920240"/>
          </a:xfrm>
          <a:prstGeom prst="roundRect">
            <a:avLst>
              <a:gd name="adj" fmla="val 3810"/>
            </a:avLst>
          </a:prstGeom>
          <a:solidFill>
            <a:srgbClr val="1C7293"/>
          </a:solidFill>
          <a:ln/>
        </p:spPr>
      </p:sp>
      <p:sp>
        <p:nvSpPr>
          <p:cNvPr id="5" name="Text 2"/>
          <p:cNvSpPr txBox="1"/>
          <p:nvPr/>
        </p:nvSpPr>
        <p:spPr>
          <a:xfrm>
            <a:off x="7909560" y="1463040"/>
            <a:ext cx="36118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0.437 vs. 0.428</a:t>
            </a:r>
            <a:endParaRPr lang="en-US" sz="2200" dirty="0"/>
          </a:p>
        </p:txBody>
      </p:sp>
      <p:sp>
        <p:nvSpPr>
          <p:cNvPr id="6" name="Text 3"/>
          <p:cNvSpPr txBox="1"/>
          <p:nvPr/>
        </p:nvSpPr>
        <p:spPr>
          <a:xfrm>
            <a:off x="8092440" y="2057400"/>
            <a:ext cx="324612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30000"/>
              </a:lnSpc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California’s weighted average vs. the state’s own regulatory default import rate</a:t>
            </a:r>
            <a:endParaRPr lang="en-US" sz="1250" dirty="0"/>
          </a:p>
        </p:txBody>
      </p:sp>
      <p:sp>
        <p:nvSpPr>
          <p:cNvPr id="7" name="Text 4"/>
          <p:cNvSpPr txBox="1"/>
          <p:nvPr/>
        </p:nvSpPr>
        <p:spPr>
          <a:xfrm>
            <a:off x="640080" y="3383280"/>
            <a:ext cx="10881360" cy="2743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lnSpc>
                <a:spcPct val="130000"/>
              </a:lnSpc>
              <a:spcAft>
                <a:spcPts val="1000"/>
              </a:spcAft>
              <a:buSzPct val="100000"/>
              <a:buChar char="•"/>
            </a:pPr>
            <a:r>
              <a:rPr lang="en-US" sz="14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reassuring, if coincidental, magnitude check — California’s default rate was calibrated from different (2006–2008, out-of-state) data.</a:t>
            </a:r>
            <a:endParaRPr lang="en-US" sz="1400" dirty="0"/>
          </a:p>
          <a:p>
            <a:pPr marL="342900" indent="-342900">
              <a:lnSpc>
                <a:spcPct val="130000"/>
              </a:lnSpc>
              <a:spcAft>
                <a:spcPts val="1000"/>
              </a:spcAft>
              <a:buSzPct val="100000"/>
              <a:buChar char="•"/>
            </a:pPr>
            <a:r>
              <a:rPr lang="en-US" sz="14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Rockies (0.828) and Southwest (0.685) are broadly consistent with the paper’s claim that nonbaseload intensities exceed 0.7 in these regions; Southwest falls just under this threshold, likely because our calculation includes all thermal plants, not only nonbaseload ones.</a:t>
            </a:r>
            <a:endParaRPr lang="en-US" sz="1400" dirty="0"/>
          </a:p>
          <a:p>
            <a:pPr marL="342900" indent="-342900">
              <a:lnSpc>
                <a:spcPct val="130000"/>
              </a:lnSpc>
              <a:spcAft>
                <a:spcPts val="1000"/>
              </a:spcAft>
              <a:buSzPct val="100000"/>
              <a:buChar char="•"/>
            </a:pPr>
            <a:r>
              <a:rPr lang="en-US" sz="14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California’s fossil-fuel fleet has a meaningfully lower carbon intensity than its neighbors — driven by its heavier reliance on gas over coal.</a:t>
            </a:r>
            <a:endParaRPr lang="en-US" sz="1400" dirty="0"/>
          </a:p>
        </p:txBody>
      </p:sp>
      <p:sp>
        <p:nvSpPr>
          <p:cNvPr id="8" name="Text 5"/>
          <p:cNvSpPr/>
          <p:nvPr/>
        </p:nvSpPr>
        <p:spPr>
          <a:xfrm>
            <a:off x="11521440" y="644652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457200"/>
            <a:ext cx="108813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Fuel-Type Composition by Region</a:t>
            </a:r>
            <a:endParaRPr lang="en-US" sz="2700" dirty="0"/>
          </a:p>
        </p:txBody>
      </p:sp>
      <p:graphicFrame>
        <p:nvGraphicFramePr>
          <p:cNvPr id="3" name="Chart 0" descr=""/>
          <p:cNvGraphicFramePr/>
          <p:nvPr/>
        </p:nvGraphicFramePr>
        <p:xfrm>
          <a:off x="548640" y="1234440"/>
          <a:ext cx="5760720" cy="356616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4" name="Text 1"/>
          <p:cNvSpPr txBox="1"/>
          <p:nvPr/>
        </p:nvSpPr>
        <p:spPr>
          <a:xfrm>
            <a:off x="6583680" y="1371600"/>
            <a:ext cx="493776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5000"/>
              </a:lnSpc>
              <a:buNone/>
            </a:pPr>
            <a:r>
              <a:rPr lang="en-US" sz="14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California relies overwhelmingly on gas (89M MWh vs. 8.8M MWh coal) — the highest gas share of any region.
</a:t>
            </a:r>
            <a:pPr indent="0" marL="0">
              <a:lnSpc>
                <a:spcPct val="135000"/>
              </a:lnSpc>
              <a:buNone/>
            </a:pPr>
            <a:r>
              <a:rPr lang="en-US" sz="14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California specifically, gas and coal have similar per-plant emission rates; in every other region, coal is markedly dirtier than gas.</a:t>
            </a:r>
            <a:endParaRPr lang="en-US" sz="1400" dirty="0"/>
          </a:p>
        </p:txBody>
      </p:sp>
      <p:graphicFrame>
        <p:nvGraphicFramePr>
          <p:cNvPr id="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583680" y="3429000"/>
          <a:ext cx="4937760" cy="1828800"/>
        </p:xfrm>
        <a:graphic>
          <a:graphicData uri="http://schemas.openxmlformats.org/drawingml/2006/table">
            <a:tbl>
              <a:tblPr/>
              <a:tblGrid>
                <a:gridCol w="1645920"/>
                <a:gridCol w="1645920"/>
                <a:gridCol w="1645920"/>
              </a:tblGrid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Region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65A8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Fuel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65A8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Mean rate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(lb/MWh)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65A82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California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GAS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1646.6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California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6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COAL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6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1588.0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6F9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Rockies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GAS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1496.3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Rockies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6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COAL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6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2476.8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6F9"/>
                    </a:solidFill>
                  </a:tcPr>
                </a:tc>
              </a:tr>
            </a:tbl>
          </a:graphicData>
        </a:graphic>
      </p:graphicFrame>
      <p:sp>
        <p:nvSpPr>
          <p:cNvPr id="6" name="Text 2"/>
          <p:cNvSpPr txBox="1"/>
          <p:nvPr/>
        </p:nvSpPr>
        <p:spPr>
          <a:xfrm>
            <a:off x="6583680" y="5349240"/>
            <a:ext cx="49377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1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California: comparable rates by fuel. Rockies: coal far dirtier than gas — the more typical pattern.</a:t>
            </a:r>
            <a:endParaRPr lang="en-US" sz="1100" dirty="0"/>
          </a:p>
        </p:txBody>
      </p:sp>
      <p:sp>
        <p:nvSpPr>
          <p:cNvPr id="7" name="Text 3"/>
          <p:cNvSpPr/>
          <p:nvPr/>
        </p:nvSpPr>
        <p:spPr>
          <a:xfrm>
            <a:off x="11521440" y="644652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21295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731520" y="822960"/>
            <a:ext cx="106984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Scope &amp; Limitations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822960" y="2103120"/>
            <a:ext cx="594360" cy="594360"/>
          </a:xfrm>
          <a:prstGeom prst="ellipse">
            <a:avLst/>
          </a:prstGeom>
          <a:solidFill>
            <a:srgbClr val="1C7293"/>
          </a:solidFill>
          <a:ln/>
        </p:spPr>
      </p:sp>
      <p:pic>
        <p:nvPicPr>
          <p:cNvPr id="4" name="Image 0" descr="/home/claude/deck_build/icons/zap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60120" y="2240280"/>
            <a:ext cx="320040" cy="320040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1645920" y="2075688"/>
            <a:ext cx="96926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5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eGRID’s thermal dataset excludes renewable and zero-carbon sources — solar, wind, hydro, and nuclear.</a:t>
            </a:r>
            <a:endParaRPr lang="en-US" sz="1500" dirty="0"/>
          </a:p>
        </p:txBody>
      </p:sp>
      <p:sp>
        <p:nvSpPr>
          <p:cNvPr id="6" name="Shape 3"/>
          <p:cNvSpPr/>
          <p:nvPr/>
        </p:nvSpPr>
        <p:spPr>
          <a:xfrm>
            <a:off x="822960" y="3154680"/>
            <a:ext cx="594360" cy="594360"/>
          </a:xfrm>
          <a:prstGeom prst="ellipse">
            <a:avLst/>
          </a:prstGeom>
          <a:solidFill>
            <a:srgbClr val="1C7293"/>
          </a:solidFill>
          <a:ln/>
        </p:spPr>
      </p:sp>
      <p:pic>
        <p:nvPicPr>
          <p:cNvPr id="7" name="Image 1" descr="/home/claude/deck_build/icons/tren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60120" y="3291840"/>
            <a:ext cx="320040" cy="320040"/>
          </a:xfrm>
          <a:prstGeom prst="rect">
            <a:avLst/>
          </a:prstGeom>
        </p:spPr>
      </p:pic>
      <p:sp>
        <p:nvSpPr>
          <p:cNvPr id="8" name="Text 4"/>
          <p:cNvSpPr txBox="1"/>
          <p:nvPr/>
        </p:nvSpPr>
        <p:spPr>
          <a:xfrm>
            <a:off x="1645920" y="3127248"/>
            <a:ext cx="96926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5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analysis measures the carbon intensity of each region’s fossil-fuel fleet specifically, not its overall electricity mix.</a:t>
            </a:r>
            <a:endParaRPr lang="en-US" sz="1500" dirty="0"/>
          </a:p>
        </p:txBody>
      </p:sp>
      <p:sp>
        <p:nvSpPr>
          <p:cNvPr id="9" name="Shape 5"/>
          <p:cNvSpPr/>
          <p:nvPr/>
        </p:nvSpPr>
        <p:spPr>
          <a:xfrm>
            <a:off x="822960" y="4206240"/>
            <a:ext cx="594360" cy="594360"/>
          </a:xfrm>
          <a:prstGeom prst="ellipse">
            <a:avLst/>
          </a:prstGeom>
          <a:solidFill>
            <a:srgbClr val="1C7293"/>
          </a:solidFill>
          <a:ln/>
        </p:spPr>
      </p:sp>
      <p:pic>
        <p:nvPicPr>
          <p:cNvPr id="10" name="Image 2" descr="/home/claude/deck_build/icons/alert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60120" y="4343400"/>
            <a:ext cx="320040" cy="320040"/>
          </a:xfrm>
          <a:prstGeom prst="rect">
            <a:avLst/>
          </a:prstGeom>
        </p:spPr>
      </p:pic>
      <p:sp>
        <p:nvSpPr>
          <p:cNvPr id="11" name="Text 6"/>
          <p:cNvSpPr txBox="1"/>
          <p:nvPr/>
        </p:nvSpPr>
        <p:spPr>
          <a:xfrm>
            <a:off x="1645920" y="4178808"/>
            <a:ext cx="96926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5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region with a dirtier thermal fleet could still have a cleaner overall grid if it draws more of its power from renewables.</a:t>
            </a:r>
            <a:endParaRPr lang="en-US" sz="1500" dirty="0"/>
          </a:p>
        </p:txBody>
      </p:sp>
      <p:sp>
        <p:nvSpPr>
          <p:cNvPr id="12" name="Text 7"/>
          <p:cNvSpPr txBox="1"/>
          <p:nvPr/>
        </p:nvSpPr>
        <p:spPr>
          <a:xfrm>
            <a:off x="731520" y="6217920"/>
            <a:ext cx="10515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FA3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findings, code, and data: github.com/jackcghu/wecc-bca-egrid-replication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7</Slides>
  <Notes>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0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2026-09-02T22:32:01Z</dcterms:created>
  <dcterms:modified xsi:type="dcterms:W3CDTF">2026-09-02T22:32:01Z</dcterms:modified>
</cp:coreProperties>
</file>